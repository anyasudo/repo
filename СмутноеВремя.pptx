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6B370A0-1BDC-36C4-595D-F9A2D3C0244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1EFE4025-6842-3913-DD24-6EC99961D7E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FA2D5C4-C404-D791-DBCA-9091B38634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50A0D-9415-4418-B2BB-822B8F1A52A3}" type="datetimeFigureOut">
              <a:rPr lang="ru-RU" smtClean="0"/>
              <a:t>05.10.2025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1454C89-DE4B-5C63-C179-8143A876B1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0AF807A-DEDB-C8CF-30F5-FF8C9981F8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E788BB-6446-4A5C-B8BA-1FE70DA233B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327922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4D03BEF-2D6A-0CF3-653E-8C420ADB9E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8FFF228-E94E-381F-3B2F-424ACFC0EF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F0D9E36-0E39-BFDC-F441-880ECDB5BE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50A0D-9415-4418-B2BB-822B8F1A52A3}" type="datetimeFigureOut">
              <a:rPr lang="ru-RU" smtClean="0"/>
              <a:t>05.10.2025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661C4CB-268C-B496-FB10-0D4A8A27CB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FE476E8-85B9-BF53-038D-6BD21F0355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E788BB-6446-4A5C-B8BA-1FE70DA233B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155858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ACF8399-CB22-75FD-8309-ECC9732866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4B27A7DF-BE1A-1EE1-911C-449E974890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05500B8-CF83-804A-EEEB-1B0277E578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50A0D-9415-4418-B2BB-822B8F1A52A3}" type="datetimeFigureOut">
              <a:rPr lang="ru-RU" smtClean="0"/>
              <a:t>05.10.2025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02326D0-8786-8FDA-325D-5F771ED7F7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972D3A1-5275-48EC-085C-D42381B8E0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E788BB-6446-4A5C-B8BA-1FE70DA233B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016030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DD0A983-45F6-AACB-2C40-F9FD380FAC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3A19441-001B-BC87-37B9-E34B3EEFDEB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1E0A123F-4338-172C-FCC9-947C57E991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6F3BE618-C9ED-EA0F-BE20-C1D11944AA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50A0D-9415-4418-B2BB-822B8F1A52A3}" type="datetimeFigureOut">
              <a:rPr lang="ru-RU" smtClean="0"/>
              <a:t>05.10.2025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30041BEE-8E83-13AD-8BCA-796D54D188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BC79C40A-7214-E53A-A0BC-91E7238D9D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E788BB-6446-4A5C-B8BA-1FE70DA233B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966801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A7B6C38-9447-32F6-9C22-D78441BC0C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2A4C5AC2-CCD1-DD2A-5B0C-D833AD180B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6CAC8E2D-9C8B-620F-1FE6-1207D060CC1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9D4AFB75-0DC3-D84F-9C32-7B9B88A534C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CE14C124-5B82-E438-A541-5113F26C880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53343EE0-352D-6AE2-593F-9896E6D3A1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50A0D-9415-4418-B2BB-822B8F1A52A3}" type="datetimeFigureOut">
              <a:rPr lang="ru-RU" smtClean="0"/>
              <a:t>05.10.2025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C05A5017-E949-22F2-8BFE-1498245F7F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149EDEFC-882C-8342-328A-51EB453B96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E788BB-6446-4A5C-B8BA-1FE70DA233B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596287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671300C-DBE0-858F-F9A9-AE0462571A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13D7B2B0-3D4D-E9E5-8757-86DCB862C1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50A0D-9415-4418-B2BB-822B8F1A52A3}" type="datetimeFigureOut">
              <a:rPr lang="ru-RU" smtClean="0"/>
              <a:t>05.10.2025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00EFBC7B-576F-401B-7C4A-58A002CE67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932D4E69-153D-706B-777D-D0A8F0BBC4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E788BB-6446-4A5C-B8BA-1FE70DA233B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669613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A69D7D84-6FFA-E788-B792-7421A081A3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50A0D-9415-4418-B2BB-822B8F1A52A3}" type="datetimeFigureOut">
              <a:rPr lang="ru-RU" smtClean="0"/>
              <a:t>05.10.2025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DBC8BBCB-85B4-0CFB-92AD-FA5BD59C6D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AC286C73-D374-D69E-4856-664C39E5D1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E788BB-6446-4A5C-B8BA-1FE70DA233B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798054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C884739-34F7-7AC1-602E-4FD91B5271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58C1FBB-F969-9DAD-C527-9FC1B9746B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C761A86C-08F0-8425-6237-A7331EEDFE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1CE28F44-6994-C148-50B0-8F75B00880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50A0D-9415-4418-B2BB-822B8F1A52A3}" type="datetimeFigureOut">
              <a:rPr lang="ru-RU" smtClean="0"/>
              <a:t>05.10.2025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D08C9377-4043-A206-2151-5E05822199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CD60D53C-617A-F4F5-4D19-C81EB0C44A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E788BB-6446-4A5C-B8BA-1FE70DA233B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926699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98D7CC8-D325-5C19-7BA0-9E81C3C227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99EC6B8D-4489-B4DF-467A-A78B1D066FB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C1C56E2F-51DC-EA23-3084-488D9320F9B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A507D85C-4277-8361-13A9-787A07C0E2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50A0D-9415-4418-B2BB-822B8F1A52A3}" type="datetimeFigureOut">
              <a:rPr lang="ru-RU" smtClean="0"/>
              <a:t>05.10.2025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C7331509-C3FD-2B42-617B-10092C3714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5A0444B6-2470-0C43-A73E-A9A83E86DF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E788BB-6446-4A5C-B8BA-1FE70DA233B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262380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2C41147-1C2A-AA0D-FAE0-4385F90D42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2202C604-1BE5-60A3-15A6-80CBA249C8A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5EF69F0-47AF-64F0-1F4C-8482FE747B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50A0D-9415-4418-B2BB-822B8F1A52A3}" type="datetimeFigureOut">
              <a:rPr lang="ru-RU" smtClean="0"/>
              <a:t>05.10.2025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6477023-B7D5-249F-7717-897DF1E6D7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F4695EE-14FE-5413-746A-47FCDCC9FB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E788BB-6446-4A5C-B8BA-1FE70DA233B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855169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56F80353-5567-4EAB-17A0-EE66D5E01E3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90FA7A3E-1E77-2C21-A0AD-E9FE165B793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9C53928-2B50-52CE-11FF-EDB3AB5ABC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50A0D-9415-4418-B2BB-822B8F1A52A3}" type="datetimeFigureOut">
              <a:rPr lang="ru-RU" smtClean="0"/>
              <a:t>05.10.2025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2CA27C1-F290-0E9E-36C4-8266FDAE19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4C2F5CF-800E-6ED3-A6D9-97D555A9B9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E788BB-6446-4A5C-B8BA-1FE70DA233B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630362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A680D43-94C0-BD78-CD08-D60074E229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5D9AB06D-320D-1923-CE75-853871F9AB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CE898E1-0C30-9180-AE53-9F9ECBD5116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150A0D-9415-4418-B2BB-822B8F1A52A3}" type="datetimeFigureOut">
              <a:rPr lang="ru-RU" smtClean="0"/>
              <a:t>05.10.2025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6A7953E-D915-90E4-19A7-E99DA9FA8CB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E203797-0CA6-0757-8850-E0A2406A062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CE788BB-6446-4A5C-B8BA-1FE70DA233B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079393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jpeg"/><Relationship Id="rId4" Type="http://schemas.openxmlformats.org/officeDocument/2006/relationships/image" Target="../media/image4.jpe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10 вопросов о Смутном времени • Arzamas">
            <a:extLst>
              <a:ext uri="{FF2B5EF4-FFF2-40B4-BE49-F238E27FC236}">
                <a16:creationId xmlns:a16="http://schemas.microsoft.com/office/drawing/2014/main" id="{AAAA199C-F346-39BE-1099-1F63874ECF3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1269" r="-927" b="8847"/>
          <a:stretch>
            <a:fillRect/>
          </a:stretch>
        </p:blipFill>
        <p:spPr bwMode="auto">
          <a:xfrm>
            <a:off x="0" y="280729"/>
            <a:ext cx="12312121" cy="62965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Прямоугольник: скругленные углы 4">
            <a:extLst>
              <a:ext uri="{FF2B5EF4-FFF2-40B4-BE49-F238E27FC236}">
                <a16:creationId xmlns:a16="http://schemas.microsoft.com/office/drawing/2014/main" id="{384897FB-1EA9-DBC3-CF0B-3777E63D62DE}"/>
              </a:ext>
            </a:extLst>
          </p:cNvPr>
          <p:cNvSpPr/>
          <p:nvPr/>
        </p:nvSpPr>
        <p:spPr>
          <a:xfrm>
            <a:off x="3922776" y="1"/>
            <a:ext cx="4251960" cy="1453896"/>
          </a:xfrm>
          <a:prstGeom prst="round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4313A4F-D12A-BBC3-F4C0-28F884A56834}"/>
              </a:ext>
            </a:extLst>
          </p:cNvPr>
          <p:cNvSpPr txBox="1"/>
          <p:nvPr/>
        </p:nvSpPr>
        <p:spPr>
          <a:xfrm>
            <a:off x="3598164" y="280729"/>
            <a:ext cx="4901184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Смутное время</a:t>
            </a:r>
          </a:p>
          <a:p>
            <a:pPr algn="ctr"/>
            <a:r>
              <a:rPr lang="ru-RU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1598 - 1613</a:t>
            </a:r>
          </a:p>
        </p:txBody>
      </p:sp>
      <p:sp>
        <p:nvSpPr>
          <p:cNvPr id="8" name="Прямоугольник: скругленные углы 7">
            <a:extLst>
              <a:ext uri="{FF2B5EF4-FFF2-40B4-BE49-F238E27FC236}">
                <a16:creationId xmlns:a16="http://schemas.microsoft.com/office/drawing/2014/main" id="{3198FF41-6293-E49B-FBEC-420301BBAF5F}"/>
              </a:ext>
            </a:extLst>
          </p:cNvPr>
          <p:cNvSpPr/>
          <p:nvPr/>
        </p:nvSpPr>
        <p:spPr>
          <a:xfrm>
            <a:off x="9756648" y="6163056"/>
            <a:ext cx="2505456" cy="576072"/>
          </a:xfrm>
          <a:prstGeom prst="round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3BF5CC0-1F4A-BD6A-8246-8B196C203965}"/>
              </a:ext>
            </a:extLst>
          </p:cNvPr>
          <p:cNvSpPr txBox="1"/>
          <p:nvPr/>
        </p:nvSpPr>
        <p:spPr>
          <a:xfrm>
            <a:off x="9971532" y="6211669"/>
            <a:ext cx="207568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>
                <a:solidFill>
                  <a:schemeClr val="bg1">
                    <a:lumMod val="6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Вертинская Аня</a:t>
            </a:r>
          </a:p>
          <a:p>
            <a:pPr algn="ctr"/>
            <a:r>
              <a:rPr lang="ru-RU" dirty="0">
                <a:solidFill>
                  <a:schemeClr val="bg1">
                    <a:lumMod val="6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ИП – 1 группа</a:t>
            </a:r>
          </a:p>
        </p:txBody>
      </p:sp>
    </p:spTree>
    <p:extLst>
      <p:ext uri="{BB962C8B-B14F-4D97-AF65-F5344CB8AC3E}">
        <p14:creationId xmlns:p14="http://schemas.microsoft.com/office/powerpoint/2010/main" val="13815751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E61A857-5A13-058B-93BC-F79BAF5AC0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6525"/>
            <a:ext cx="10515600" cy="887603"/>
          </a:xfrm>
        </p:spPr>
        <p:txBody>
          <a:bodyPr/>
          <a:lstStyle/>
          <a:p>
            <a:pPr algn="ctr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Причины начала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Смутного времени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95AE018-CC9E-A280-FCB1-AEEB1B28C8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80744"/>
            <a:ext cx="10515600" cy="4823651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Последствия разорения страны в период опричнины.</a:t>
            </a:r>
          </a:p>
          <a:p>
            <a:pPr marL="0" indent="0">
              <a:buNone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Обострение социальной ситуации вследствие процессов государственного закрепощения крестьян (Юрьев день, указ о «Заповедных летах», указ «Об урочных летах»). Недовольство крестьян, а также горожан в связи с ростом повинностей.</a:t>
            </a:r>
          </a:p>
          <a:p>
            <a:pPr marL="0" indent="0">
              <a:buNone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Кризис династии: пресечение мужской ветки правящего княжеско- царского дома Рюриковичей со смертью царевича Дмитрия в 1591 году и Федора Иоанновича в 1598 году. </a:t>
            </a:r>
          </a:p>
          <a:p>
            <a:pPr marL="0" indent="0">
              <a:buNone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Неурожаи и голод 1601-1603 гг. Гибель людей и всплеск миграции внутри страны.</a:t>
            </a:r>
          </a:p>
          <a:p>
            <a:pPr marL="0" indent="0">
              <a:buNone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Появление самозванцев.</a:t>
            </a:r>
          </a:p>
        </p:txBody>
      </p:sp>
    </p:spTree>
    <p:extLst>
      <p:ext uri="{BB962C8B-B14F-4D97-AF65-F5344CB8AC3E}">
        <p14:creationId xmlns:p14="http://schemas.microsoft.com/office/powerpoint/2010/main" val="11608229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161DC61-DC0A-49FB-9463-5717DD9EB8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8585" y="34744"/>
            <a:ext cx="10515600" cy="1325563"/>
          </a:xfrm>
        </p:spPr>
        <p:txBody>
          <a:bodyPr/>
          <a:lstStyle/>
          <a:p>
            <a:pPr algn="ctr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Правители Смутного времени</a:t>
            </a:r>
          </a:p>
        </p:txBody>
      </p:sp>
      <p:pic>
        <p:nvPicPr>
          <p:cNvPr id="2050" name="Picture 2" descr="Портрет Фёдора 1630-х гг. с надгробия в Архангельском соборе Московского кремля">
            <a:extLst>
              <a:ext uri="{FF2B5EF4-FFF2-40B4-BE49-F238E27FC236}">
                <a16:creationId xmlns:a16="http://schemas.microsoft.com/office/drawing/2014/main" id="{0294E246-90F9-4BE4-4BD4-04C19DED0AE7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7680" y="1360307"/>
            <a:ext cx="2214262" cy="29239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67B06E7E-2D86-19F1-5390-346AB5E89190}"/>
              </a:ext>
            </a:extLst>
          </p:cNvPr>
          <p:cNvSpPr txBox="1"/>
          <p:nvPr/>
        </p:nvSpPr>
        <p:spPr>
          <a:xfrm>
            <a:off x="757680" y="4282069"/>
            <a:ext cx="221426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Федор Иоаннович</a:t>
            </a:r>
          </a:p>
          <a:p>
            <a:pPr algn="ctr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1584 - 1598</a:t>
            </a:r>
          </a:p>
        </p:txBody>
      </p:sp>
      <p:pic>
        <p:nvPicPr>
          <p:cNvPr id="2052" name="Picture 4" descr="Парсуна с изображением Бориса Годунова кон. XVII в. Государственный музей-заповедник А. С. Пушкина «Михайловское»">
            <a:extLst>
              <a:ext uri="{FF2B5EF4-FFF2-40B4-BE49-F238E27FC236}">
                <a16:creationId xmlns:a16="http://schemas.microsoft.com/office/drawing/2014/main" id="{10AAFE27-099D-03F9-5DD6-41DCA040F9F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82102" y="1360307"/>
            <a:ext cx="2214261" cy="28367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1B06CEA-CE82-6D28-1298-289903BB4ECF}"/>
              </a:ext>
            </a:extLst>
          </p:cNvPr>
          <p:cNvSpPr txBox="1"/>
          <p:nvPr/>
        </p:nvSpPr>
        <p:spPr>
          <a:xfrm>
            <a:off x="3451747" y="4231383"/>
            <a:ext cx="232257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Борис Годунов</a:t>
            </a:r>
          </a:p>
          <a:p>
            <a:pPr algn="ctr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1589 - 1605</a:t>
            </a:r>
          </a:p>
        </p:txBody>
      </p:sp>
      <p:pic>
        <p:nvPicPr>
          <p:cNvPr id="2056" name="Picture 8" descr="Портрет из Государственного исторического музея.">
            <a:extLst>
              <a:ext uri="{FF2B5EF4-FFF2-40B4-BE49-F238E27FC236}">
                <a16:creationId xmlns:a16="http://schemas.microsoft.com/office/drawing/2014/main" id="{361CF2E1-EBBF-85D2-9B77-806AC1A6F23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134" t="24329" r="22077" b="22024"/>
          <a:stretch>
            <a:fillRect/>
          </a:stretch>
        </p:blipFill>
        <p:spPr bwMode="auto">
          <a:xfrm>
            <a:off x="6397236" y="1415056"/>
            <a:ext cx="2251480" cy="28367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E9BA8D4-EBCB-223A-49D2-9394D21AA8DE}"/>
              </a:ext>
            </a:extLst>
          </p:cNvPr>
          <p:cNvSpPr txBox="1"/>
          <p:nvPr/>
        </p:nvSpPr>
        <p:spPr>
          <a:xfrm>
            <a:off x="6482141" y="4260961"/>
            <a:ext cx="208166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Лжедмитрий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</a:p>
          <a:p>
            <a:pPr algn="ctr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1605 - 1606</a:t>
            </a:r>
          </a:p>
        </p:txBody>
      </p:sp>
      <p:pic>
        <p:nvPicPr>
          <p:cNvPr id="2058" name="Picture 10" descr="Портрет из «Царского титулярника» 1672 года">
            <a:extLst>
              <a:ext uri="{FF2B5EF4-FFF2-40B4-BE49-F238E27FC236}">
                <a16:creationId xmlns:a16="http://schemas.microsoft.com/office/drawing/2014/main" id="{F908888C-791E-7BAD-5518-1EF000F95FA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00828" y="1300379"/>
            <a:ext cx="2237877" cy="29402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C4746D2-DAF6-E7B3-969A-33472038FEA9}"/>
              </a:ext>
            </a:extLst>
          </p:cNvPr>
          <p:cNvSpPr txBox="1"/>
          <p:nvPr/>
        </p:nvSpPr>
        <p:spPr>
          <a:xfrm>
            <a:off x="9109168" y="4231512"/>
            <a:ext cx="242119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Василий Шуйский</a:t>
            </a:r>
          </a:p>
          <a:p>
            <a:pPr algn="ctr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1606 - 1610</a:t>
            </a:r>
          </a:p>
        </p:txBody>
      </p:sp>
    </p:spTree>
    <p:extLst>
      <p:ext uri="{BB962C8B-B14F-4D97-AF65-F5344CB8AC3E}">
        <p14:creationId xmlns:p14="http://schemas.microsoft.com/office/powerpoint/2010/main" val="22001025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D36BDD5-DD30-3D93-546C-D720F35DC7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Земское ополчение</a:t>
            </a:r>
          </a:p>
        </p:txBody>
      </p:sp>
      <p:pic>
        <p:nvPicPr>
          <p:cNvPr id="3074" name="Picture 2" descr="Кто такие Кузьма Минин и Дмитрий Пожарский? | АиФ Краснодар">
            <a:extLst>
              <a:ext uri="{FF2B5EF4-FFF2-40B4-BE49-F238E27FC236}">
                <a16:creationId xmlns:a16="http://schemas.microsoft.com/office/drawing/2014/main" id="{DFC203AB-4870-2214-3995-1FF611CC05D3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0248" y="1614488"/>
            <a:ext cx="6096000" cy="4048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45A68F0-A16C-5D7F-8AA3-FE0168F217C0}"/>
              </a:ext>
            </a:extLst>
          </p:cNvPr>
          <p:cNvSpPr txBox="1"/>
          <p:nvPr/>
        </p:nvSpPr>
        <p:spPr>
          <a:xfrm>
            <a:off x="6784848" y="1968490"/>
            <a:ext cx="4882896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На волне всеобщего сопротивления было создано 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первое земское ополчение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(январь– июль 1611) под предводительством Ляпунова, Трубецкого и Заруцкого. Однако его попытки освободить Москву от поляков не увенчались успехом. </a:t>
            </a:r>
          </a:p>
          <a:p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Второе земское ополчение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(сентябрь 1611 г. – октябрь 1612 г.) возникает в Нижнем Новгороде. Возглавил его нижегородский земский староста, купец Кузьма Минин, военной руководителем был назначен опытный воевода князь Дмитрий Пожарский.</a:t>
            </a:r>
          </a:p>
        </p:txBody>
      </p:sp>
    </p:spTree>
    <p:extLst>
      <p:ext uri="{BB962C8B-B14F-4D97-AF65-F5344CB8AC3E}">
        <p14:creationId xmlns:p14="http://schemas.microsoft.com/office/powerpoint/2010/main" val="33916252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19B77D8-AC2F-2E5A-2E48-9303F0F8A2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Михаил Федорович Романов</a:t>
            </a:r>
            <a:b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1613 - 1645</a:t>
            </a:r>
          </a:p>
        </p:txBody>
      </p:sp>
      <p:pic>
        <p:nvPicPr>
          <p:cNvPr id="4098" name="Picture 2" descr="Портрет царя Михаила Фёдоровича кисти Иоганна Генриха Ведекинда">
            <a:extLst>
              <a:ext uri="{FF2B5EF4-FFF2-40B4-BE49-F238E27FC236}">
                <a16:creationId xmlns:a16="http://schemas.microsoft.com/office/drawing/2014/main" id="{7ECEBECE-FA35-2CB7-D641-C3B1A003B370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40936" y="1842504"/>
            <a:ext cx="3310128" cy="46503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642737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3AAD36F-6545-E238-ED7F-8B6FDAEC0B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Последствия Смутного времени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AEF0293-E07B-3D3C-D3D5-B0C4708703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Страшное разорение и запустение страны: хозяйственная разруха, большие людские потери, финансовые проблемы, обнищание народа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Подъем самосознания народа и усиление влияния церкви на государство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Сохранение национальной независимости и российской государственности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Положено начало новой династии Романовых (1613-1917 гг.)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76721610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53</TotalTime>
  <Words>253</Words>
  <Application>Microsoft Office PowerPoint</Application>
  <PresentationFormat>Широкоэкранный</PresentationFormat>
  <Paragraphs>28</Paragraphs>
  <Slides>6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6</vt:i4>
      </vt:variant>
    </vt:vector>
  </HeadingPairs>
  <TitlesOfParts>
    <vt:vector size="11" baseType="lpstr">
      <vt:lpstr>Arial</vt:lpstr>
      <vt:lpstr>Calibri</vt:lpstr>
      <vt:lpstr>Calibri Light</vt:lpstr>
      <vt:lpstr>Times New Roman</vt:lpstr>
      <vt:lpstr>Тема Office</vt:lpstr>
      <vt:lpstr>Презентация PowerPoint</vt:lpstr>
      <vt:lpstr>Причины начала Смутного времени</vt:lpstr>
      <vt:lpstr>Правители Смутного времени</vt:lpstr>
      <vt:lpstr>Земское ополчение</vt:lpstr>
      <vt:lpstr>Михаил Федорович Романов 1613 - 1645</vt:lpstr>
      <vt:lpstr>Последствия Смутного времени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Анна Вертинская</dc:creator>
  <cp:lastModifiedBy>Анна Вертинская</cp:lastModifiedBy>
  <cp:revision>1</cp:revision>
  <dcterms:created xsi:type="dcterms:W3CDTF">2025-10-05T12:22:37Z</dcterms:created>
  <dcterms:modified xsi:type="dcterms:W3CDTF">2025-10-05T13:16:08Z</dcterms:modified>
</cp:coreProperties>
</file>